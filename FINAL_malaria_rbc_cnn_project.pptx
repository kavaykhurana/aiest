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FEDD7"/>
                </a:solidFill>
              </a:rPr>
              <a:t>UCS321 — EST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Malaria Cell Detection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3800" b="1">
                <a:solidFill>
                  <a:srgbClr val="9FEDD7"/>
                </a:solidFill>
              </a:rPr>
              <a:t>Using a Custom CNN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500" i="1">
                <a:solidFill>
                  <a:srgbClr val="A0AEC0"/>
                </a:solidFill>
              </a:rPr>
              <a:t>PyTorch CNN | Weighted Sampling | Grad-CAM Explainability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108960"/>
            <a:ext cx="2743200" cy="36576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</a:rPr>
              <a:t>Biocon Ltd. — Automated Blood Sample Diagnosis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Team Name  |  College Name  |  Student Names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297680"/>
            <a:ext cx="1920240" cy="640080"/>
          </a:xfrm>
          <a:prstGeom prst="rect">
            <a:avLst/>
          </a:prstGeom>
          <a:solidFill>
            <a:srgbClr val="026670">
              <a:alpha val="30000"/>
            </a:srgbClr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5760" y="4315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EDD7"/>
                </a:solidFill>
              </a:rPr>
              <a:t>27,558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" y="4617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Cell Images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4297680"/>
            <a:ext cx="1920240" cy="640080"/>
          </a:xfrm>
          <a:prstGeom prst="rect">
            <a:avLst/>
          </a:prstGeom>
          <a:solidFill>
            <a:srgbClr val="026670">
              <a:alpha val="30000"/>
            </a:srgbClr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560320" y="4315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800" b="1">
                <a:solidFill>
                  <a:srgbClr val="9FEDD7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60320" y="4617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000">
                <a:solidFill>
                  <a:srgbClr val="A0AEC0"/>
                </a:solidFill>
              </a:rPr>
              <a:t>CNN Model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4297680"/>
            <a:ext cx="1920240" cy="640080"/>
          </a:xfrm>
          <a:prstGeom prst="rect">
            <a:avLst/>
          </a:prstGeom>
          <a:solidFill>
            <a:srgbClr val="026670">
              <a:alpha val="30000"/>
            </a:srgbClr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54880" y="4315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800" b="1">
                <a:solidFill>
                  <a:srgbClr val="9FEDD7"/>
                </a:solidFill>
              </a:rPr>
              <a:t>93.3%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4617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000">
                <a:solidFill>
                  <a:srgbClr val="A0AEC0"/>
                </a:solidFill>
              </a:rPr>
              <a:t>Test Accuracy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4297680"/>
            <a:ext cx="1920240" cy="640080"/>
          </a:xfrm>
          <a:prstGeom prst="rect">
            <a:avLst/>
          </a:prstGeom>
          <a:solidFill>
            <a:srgbClr val="026670">
              <a:alpha val="30000"/>
            </a:srgbClr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949440" y="4315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800" b="1">
                <a:solidFill>
                  <a:srgbClr val="9FEDD7"/>
                </a:solidFill>
              </a:rPr>
              <a:t>0.983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9440" y="4617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000">
                <a:solidFill>
                  <a:srgbClr val="A0AEC0"/>
                </a:solidFill>
              </a:rPr>
              <a:t>ROC AUC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3891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1005840"/>
            <a:ext cx="411480" cy="411480"/>
          </a:xfrm>
          <a:prstGeom prst="rect">
            <a:avLst/>
          </a:prstGeom>
          <a:solidFill>
            <a:srgbClr val="026670">
              <a:alpha val="80000"/>
            </a:srgbClr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0241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</a:rPr>
              <a:t>Malaria kills 600,000+ people annually — mostly in Africa and South Asia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411480" cy="411480"/>
          </a:xfrm>
          <a:prstGeom prst="rect">
            <a:avLst/>
          </a:prstGeom>
          <a:solidFill>
            <a:srgbClr val="026670">
              <a:alpha val="80000"/>
            </a:srgbClr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1664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68249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</a:rPr>
              <a:t>Traditional diagnosis requires skilled lab technicians examining blood smears manually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22576"/>
            <a:ext cx="411480" cy="411480"/>
          </a:xfrm>
          <a:prstGeom prst="rect">
            <a:avLst/>
          </a:prstGeom>
          <a:solidFill>
            <a:srgbClr val="026670">
              <a:alpha val="80000"/>
            </a:srgbClr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" y="23225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⏱️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34086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</a:rPr>
              <a:t>Manual diagnosis is slow, error-prone, and unavailable in remote areas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980944"/>
            <a:ext cx="411480" cy="411480"/>
          </a:xfrm>
          <a:prstGeom prst="rect">
            <a:avLst/>
          </a:prstGeom>
          <a:solidFill>
            <a:srgbClr val="026670">
              <a:alpha val="80000"/>
            </a:srgbClr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" y="29809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9992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</a:rPr>
              <a:t>Deep learning can automate diagnosis with high accuracy and low cost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639312"/>
            <a:ext cx="411480" cy="411480"/>
          </a:xfrm>
          <a:prstGeom prst="rect">
            <a:avLst/>
          </a:prstGeom>
          <a:solidFill>
            <a:srgbClr val="026670">
              <a:alpha val="80000"/>
            </a:srgbClr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2920" y="3639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657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100">
                <a:solidFill>
                  <a:srgbClr val="0A2342"/>
                </a:solidFill>
              </a:rPr>
              <a:t>Goal: classify cells as Malaria-Infected or Healthy using the notebook CNN model</a:t>
            </a:r>
            <a:endParaRPr lang="en-US" sz="1100" dirty="0"/>
          </a:p>
        </p:txBody>
      </p:sp>
      <p:pic>
        <p:nvPicPr>
          <p:cNvPr id="20" name="Image 0" descr="/home/claude/ppt/images/graph2_sample_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822960"/>
            <a:ext cx="3840480" cy="21031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937760" y="3200400"/>
            <a:ext cx="1188720" cy="1005840"/>
          </a:xfrm>
          <a:prstGeom prst="rect">
            <a:avLst/>
          </a:prstGeom>
          <a:solidFill>
            <a:srgbClr val="026670">
              <a:alpha val="15000"/>
            </a:srgbClr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937760" y="32461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</a:rPr>
              <a:t>27,558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937760" y="3749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Total images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263640" y="3200400"/>
            <a:ext cx="1188720" cy="1005840"/>
          </a:xfrm>
          <a:prstGeom prst="rect">
            <a:avLst/>
          </a:prstGeom>
          <a:solidFill>
            <a:srgbClr val="E74C3C">
              <a:alpha val="1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263640" y="32461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</a:rPr>
              <a:t>50 / 50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263640" y="3749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Class balance %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589520" y="3200400"/>
            <a:ext cx="1188720" cy="1005840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589520" y="32461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</a:rPr>
              <a:t>64×64 px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589520" y="3749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Input resolution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p/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822960"/>
            <a:ext cx="384048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Dataset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300" i="1">
                <a:solidFill>
                  <a:srgbClr val="9FEDD7"/>
                </a:solidFill>
              </a:rPr>
              <a:t>cell_images dataset used by the notebook</a:t>
            </a:r>
            <a:endParaRPr lang="en-US" sz="1300" dirty="0"/>
          </a:p>
        </p:txBody>
      </p:sp>
      <p:pic>
        <p:nvPicPr>
          <p:cNvPr id="4" name="Image 0" descr="/home/claude/ppt/images/graph1_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5303520" cy="2560320"/>
          </a:xfrm>
          <a:prstGeom prst="rect">
            <a:avLst/>
          </a:prstGeom>
        </p:spPr>
      </p:pic>
      <p:pic>
        <p:nvPicPr>
          <p:cNvPr id="5" name="Image 1" descr="/home/claude/ppt/images/graph5_mean_im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51560"/>
            <a:ext cx="3200400" cy="1828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69280" y="3017520"/>
            <a:ext cx="54864" cy="274320"/>
          </a:xfrm>
          <a:prstGeom prst="rect">
            <a:avLst/>
          </a:prstGeom>
          <a:solidFill>
            <a:srgbClr val="9FEDD7"/>
          </a:solidFill>
          <a:ln w="12700">
            <a:solidFill>
              <a:srgbClr val="9FEDD7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5852160" y="29992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27,558 total PNG images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669280" y="3401568"/>
            <a:ext cx="54864" cy="274320"/>
          </a:xfrm>
          <a:prstGeom prst="rect">
            <a:avLst/>
          </a:prstGeom>
          <a:solidFill>
            <a:srgbClr val="9FEDD7"/>
          </a:solidFill>
          <a:ln w="12700">
            <a:solidFill>
              <a:srgbClr val="9FEDD7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5852160" y="3383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100">
                <a:solidFill>
                  <a:srgbClr val="FFFFFF"/>
                </a:solidFill>
              </a:rPr>
              <a:t>13,779 Parasitized + 13,779 Uninfected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669280" y="3785616"/>
            <a:ext cx="54864" cy="274320"/>
          </a:xfrm>
          <a:prstGeom prst="rect">
            <a:avLst/>
          </a:prstGeom>
          <a:solidFill>
            <a:srgbClr val="9FEDD7"/>
          </a:solidFill>
          <a:ln w="12700">
            <a:solidFill>
              <a:srgbClr val="9FEDD7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5852160" y="37673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100">
                <a:solidFill>
                  <a:srgbClr val="FFFFFF"/>
                </a:solidFill>
              </a:rPr>
              <a:t>Balanced 50/50 class distribution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669280" y="4169664"/>
            <a:ext cx="54864" cy="274320"/>
          </a:xfrm>
          <a:prstGeom prst="rect">
            <a:avLst/>
          </a:prstGeom>
          <a:solidFill>
            <a:srgbClr val="9FEDD7"/>
          </a:solidFill>
          <a:ln w="12700">
            <a:solidFill>
              <a:srgbClr val="9FEDD7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5852160" y="415137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100">
                <a:solidFill>
                  <a:srgbClr val="FFFFFF"/>
                </a:solidFill>
              </a:rPr>
              <a:t>Images resized to 64×64 for CNN input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669280" y="4553712"/>
            <a:ext cx="54864" cy="274320"/>
          </a:xfrm>
          <a:prstGeom prst="rect">
            <a:avLst/>
          </a:prstGeom>
          <a:solidFill>
            <a:srgbClr val="9FEDD7"/>
          </a:solidFill>
          <a:ln w="12700">
            <a:solidFill>
              <a:srgbClr val="9FEDD7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5852160" y="453542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100">
                <a:solidFill>
                  <a:srgbClr val="FFFFFF"/>
                </a:solidFill>
              </a:rPr>
              <a:t>Fast-run sample: 1,000 images (500/class)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051560"/>
            <a:ext cx="5303520" cy="256032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1051560"/>
            <a:ext cx="32004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</a:rPr>
              <a:t>Exploratory Data Analysis</a:t>
            </a:r>
            <a:endParaRPr lang="en-US" sz="2800" dirty="0"/>
          </a:p>
        </p:txBody>
      </p:sp>
      <p:pic>
        <p:nvPicPr>
          <p:cNvPr id="4" name="Image 0" descr="/home/claude/ppt/images/graph4_pixel_intens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5303520" cy="1920240"/>
          </a:xfrm>
          <a:prstGeom prst="rect">
            <a:avLst/>
          </a:prstGeom>
        </p:spPr>
      </p:pic>
      <p:pic>
        <p:nvPicPr>
          <p:cNvPr id="5" name="Image 1" descr="/home/claude/ppt/images/graph6_rgb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834640"/>
            <a:ext cx="4114800" cy="2011680"/>
          </a:xfrm>
          <a:prstGeom prst="rect">
            <a:avLst/>
          </a:prstGeom>
        </p:spPr>
      </p:pic>
      <p:pic>
        <p:nvPicPr>
          <p:cNvPr id="6" name="Image 2" descr="/home/claude/ppt/images/graph3_dimension_distribu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4389120" cy="16916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480560" y="2606040"/>
            <a:ext cx="4389120" cy="2331720"/>
          </a:xfrm>
          <a:prstGeom prst="rect">
            <a:avLst/>
          </a:prstGeom>
          <a:solidFill>
            <a:srgbClr val="0A2342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8" name="Text 3"/>
          <p:cNvSpPr/>
          <p:nvPr/>
        </p:nvSpPr>
        <p:spPr>
          <a:xfrm>
            <a:off x="4572000" y="2697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DD7"/>
                </a:solidFill>
              </a:rPr>
              <a:t>Key EDA Insights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4617720" y="3127248"/>
            <a:ext cx="109728" cy="109728"/>
          </a:xfrm>
          <a:prstGeom prst="ellipse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4828032" y="3090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00">
                <a:solidFill>
                  <a:srgbClr val="FFFFFF"/>
                </a:solidFill>
              </a:rPr>
              <a:t>Color and intensity patterns differ between classes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4617720" y="3474720"/>
            <a:ext cx="109728" cy="109728"/>
          </a:xfrm>
          <a:prstGeom prst="ellipse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/>
          <p:nvPr/>
        </p:nvSpPr>
        <p:spPr>
          <a:xfrm>
            <a:off x="4828032" y="34381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00">
                <a:solidFill>
                  <a:srgbClr val="FFFFFF"/>
                </a:solidFill>
              </a:rPr>
              <a:t>Healthy cells appear more visually uniform in samples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617720" y="3822192"/>
            <a:ext cx="109728" cy="109728"/>
          </a:xfrm>
          <a:prstGeom prst="ellipse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4828032" y="37856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00">
                <a:solidFill>
                  <a:srgbClr val="FFFFFF"/>
                </a:solidFill>
              </a:rPr>
              <a:t>Variable image sizes are standardized to 64×64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617720" y="4169664"/>
            <a:ext cx="109728" cy="109728"/>
          </a:xfrm>
          <a:prstGeom prst="ellipse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4828032" y="41330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00">
                <a:solidFill>
                  <a:srgbClr val="FFFFFF"/>
                </a:solidFill>
              </a:rPr>
              <a:t>Balanced data, with class-weight logic kept in the pipeline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617720" y="4517136"/>
            <a:ext cx="109728" cy="109728"/>
          </a:xfrm>
          <a:prstGeom prst="ellipse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4828032" y="4480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00">
                <a:solidFill>
                  <a:srgbClr val="FFFFFF"/>
                </a:solidFill>
              </a:rPr>
              <a:t>Noise preview supports preprocessing choices before training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822960"/>
            <a:ext cx="5303520" cy="192024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2834640"/>
            <a:ext cx="4114800" cy="201168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822960"/>
            <a:ext cx="438912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Preprocessing &amp; Augmentation</a:t>
            </a:r>
            <a:endParaRPr lang="en-US" sz="2800" dirty="0"/>
          </a:p>
        </p:txBody>
      </p:sp>
      <p:pic>
        <p:nvPicPr>
          <p:cNvPr id="3" name="Image 0" descr="/home/claude/ppt/images/graph9_preprocessing_st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5029200" cy="1920240"/>
          </a:xfrm>
          <a:prstGeom prst="rect">
            <a:avLst/>
          </a:prstGeom>
        </p:spPr>
      </p:pic>
      <p:pic>
        <p:nvPicPr>
          <p:cNvPr id="4" name="Image 1" descr="/home/claude/ppt/images/graph8_augment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834640"/>
            <a:ext cx="8595360" cy="20116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0" y="914400"/>
            <a:ext cx="1600200" cy="804672"/>
          </a:xfrm>
          <a:prstGeom prst="rect">
            <a:avLst/>
          </a:prstGeom>
          <a:solidFill>
            <a:srgbClr val="026670">
              <a:alpha val="75000"/>
            </a:srgbClr>
          </a:solidFill>
          <a:ln w="10160">
            <a:solidFill>
              <a:srgbClr val="9FEDD7"/>
            </a:solidFill>
            <a:prstDash val="solid"/>
          </a:ln>
        </p:spPr>
        <p:txBody>
          <a:bodyPr/>
          <a:p/>
        </p:txBody>
      </p:sp>
      <p:sp>
        <p:nvSpPr>
          <p:cNvPr id="6" name="Text 2"/>
          <p:cNvSpPr/>
          <p:nvPr/>
        </p:nvSpPr>
        <p:spPr>
          <a:xfrm>
            <a:off x="5486400" y="9326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EDD7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486400" y="118872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Resize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486400" y="144475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All images → 64×64 px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7269480" y="914400"/>
            <a:ext cx="1600200" cy="804672"/>
          </a:xfrm>
          <a:prstGeom prst="rect">
            <a:avLst/>
          </a:prstGeom>
          <a:solidFill>
            <a:srgbClr val="026670">
              <a:alpha val="75000"/>
            </a:srgbClr>
          </a:solidFill>
          <a:ln w="10160">
            <a:solidFill>
              <a:srgbClr val="9FEDD7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7269480" y="9326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EDD7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269480" y="118872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Normalize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269480" y="144475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Pixels scaled 0.0–1.0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486400" y="1874520"/>
            <a:ext cx="1600200" cy="804672"/>
          </a:xfrm>
          <a:prstGeom prst="rect">
            <a:avLst/>
          </a:prstGeom>
          <a:solidFill>
            <a:srgbClr val="026670">
              <a:alpha val="75000"/>
            </a:srgbClr>
          </a:solidFill>
          <a:ln w="10160">
            <a:solidFill>
              <a:srgbClr val="9FEDD7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5486400" y="189280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EDD7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486400" y="21488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Split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486400" y="240487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900">
                <a:solidFill>
                  <a:srgbClr val="A0AEC0"/>
                </a:solidFill>
              </a:rPr>
              <a:t>70% Train / 15% Val / 15% Test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269480" y="1874520"/>
            <a:ext cx="1600200" cy="804672"/>
          </a:xfrm>
          <a:prstGeom prst="rect">
            <a:avLst/>
          </a:prstGeom>
          <a:solidFill>
            <a:srgbClr val="026670">
              <a:alpha val="75000"/>
            </a:srgbClr>
          </a:solidFill>
          <a:ln w="10160">
            <a:solidFill>
              <a:srgbClr val="9FEDD7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269480" y="189280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EDD7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7269480" y="21488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Augment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269480" y="240487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900">
                <a:solidFill>
                  <a:srgbClr val="A0AEC0"/>
                </a:solidFill>
              </a:rPr>
              <a:t>Flip, rotate, color jitter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822960"/>
            <a:ext cx="5029200" cy="192024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2834640"/>
            <a:ext cx="859536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</a:rPr>
              <a:t>Dataset Split Strategy</a:t>
            </a:r>
            <a:endParaRPr lang="en-US" sz="2800" dirty="0"/>
          </a:p>
        </p:txBody>
      </p:sp>
      <p:pic>
        <p:nvPicPr>
          <p:cNvPr id="4" name="Image 0" descr="/home/claude/ppt/images/graph7_spli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82296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4206240"/>
            <a:ext cx="2286000" cy="731520"/>
          </a:xfrm>
          <a:prstGeom prst="rect">
            <a:avLst/>
          </a:prstGeom>
          <a:solidFill>
            <a:srgbClr val="026670">
              <a:alpha val="15000"/>
            </a:srgbClr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4251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300" b="1">
                <a:solidFill>
                  <a:srgbClr val="0A2342"/>
                </a:solidFill>
              </a:rPr>
              <a:t>Train: 700 (70%)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74720" y="4206240"/>
            <a:ext cx="2286000" cy="731520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474720" y="4251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300" b="1">
                <a:solidFill>
                  <a:srgbClr val="0A2342"/>
                </a:solidFill>
              </a:rPr>
              <a:t>Validation: 150 (15%)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4206240"/>
            <a:ext cx="2286000" cy="731520"/>
          </a:xfrm>
          <a:prstGeom prst="rect">
            <a:avLst/>
          </a:prstGeom>
          <a:solidFill>
            <a:srgbClr val="E74C3C">
              <a:alpha val="1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035040" y="4251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300" b="1">
                <a:solidFill>
                  <a:srgbClr val="0A2342"/>
                </a:solidFill>
              </a:rPr>
              <a:t>Test: 150 (15%)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p/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82296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Model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300" i="1">
                <a:solidFill>
                  <a:srgbClr val="A0AEC0"/>
                </a:solidFill>
              </a:rPr>
              <a:t>One reproducible custom CNN trained in the notebook with Grad-CAM support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657600"/>
          </a:xfrm>
          <a:prstGeom prst="rect">
            <a:avLst/>
          </a:prstGeom>
          <a:solidFill>
            <a:srgbClr val="0D1B2A"/>
          </a:solidFill>
          <a:ln w="19050">
            <a:solidFill>
              <a:srgbClr val="378ADD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502920"/>
          </a:xfrm>
          <a:prstGeom prst="rect">
            <a:avLst/>
          </a:prstGeom>
          <a:solidFill>
            <a:srgbClr val="378ADD">
              <a:alpha val="80000"/>
            </a:srgbClr>
          </a:solidFill>
          <a:ln w="12700">
            <a:solidFill>
              <a:srgbClr val="378AD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1155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 CNN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435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EC0"/>
                </a:solidFill>
              </a:rPr>
              <a:t>Built from scratch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1783080"/>
            <a:ext cx="2523744" cy="530352"/>
          </a:xfrm>
          <a:prstGeom prst="rect">
            <a:avLst/>
          </a:prstGeom>
          <a:solidFill>
            <a:srgbClr val="378ADD">
              <a:alpha val="12000"/>
            </a:srgbClr>
          </a:solidFill>
          <a:ln w="6350">
            <a:solidFill>
              <a:srgbClr val="378AD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11480" y="1801368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00">
                <a:solidFill>
                  <a:srgbClr val="FFFFFF"/>
                </a:solidFill>
              </a:rPr>
              <a:t>Conv blocks + BatchNorm + MaxPool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441448"/>
            <a:ext cx="2523744" cy="530352"/>
          </a:xfrm>
          <a:prstGeom prst="rect">
            <a:avLst/>
          </a:prstGeom>
          <a:solidFill>
            <a:srgbClr val="378ADD">
              <a:alpha val="12000"/>
            </a:srgbClr>
          </a:solidFill>
          <a:ln w="6350">
            <a:solidFill>
              <a:srgbClr val="378AD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11480" y="2459736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00">
                <a:solidFill>
                  <a:srgbClr val="FFFFFF"/>
                </a:solidFill>
              </a:rPr>
              <a:t>Dense layer + Dropout regularization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3099816"/>
            <a:ext cx="2523744" cy="530352"/>
          </a:xfrm>
          <a:prstGeom prst="rect">
            <a:avLst/>
          </a:prstGeom>
          <a:solidFill>
            <a:srgbClr val="378ADD">
              <a:alpha val="12000"/>
            </a:srgbClr>
          </a:solidFill>
          <a:ln w="6350">
            <a:solidFill>
              <a:srgbClr val="378AD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11480" y="3118104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Sigmoid output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3758184"/>
            <a:ext cx="2523744" cy="530352"/>
          </a:xfrm>
          <a:prstGeom prst="rect">
            <a:avLst/>
          </a:prstGeom>
          <a:solidFill>
            <a:srgbClr val="378ADD">
              <a:alpha val="12000"/>
            </a:srgbClr>
          </a:solidFill>
          <a:ln w="6350">
            <a:solidFill>
              <a:srgbClr val="378AD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11480" y="377647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00">
                <a:solidFill>
                  <a:srgbClr val="FFFFFF"/>
                </a:solidFill>
              </a:rPr>
              <a:t>Optimizer: Adam, LR 0.001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097280"/>
            <a:ext cx="2743200" cy="3657600"/>
          </a:xfrm>
          <a:prstGeom prst="rect">
            <a:avLst/>
          </a:prstGeom>
          <a:solidFill>
            <a:srgbClr val="0D1B2A"/>
          </a:solidFill>
          <a:ln w="1905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246120" y="1097280"/>
            <a:ext cx="2743200" cy="502920"/>
          </a:xfrm>
          <a:prstGeom prst="rect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246120" y="11155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400" b="1">
                <a:solidFill>
                  <a:srgbClr val="FFFFFF"/>
                </a:solidFill>
              </a:rPr>
              <a:t>Training Controls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46120" y="1435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000" i="1">
                <a:solidFill>
                  <a:srgbClr val="A0AEC0"/>
                </a:solidFill>
              </a:rPr>
              <a:t>Imbalance-ready setup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55848" y="1783080"/>
            <a:ext cx="2523744" cy="530352"/>
          </a:xfrm>
          <a:prstGeom prst="rect">
            <a:avLst/>
          </a:prstGeom>
          <a:solidFill>
            <a:srgbClr val="E74C3C">
              <a:alpha val="12000"/>
            </a:srgbClr>
          </a:solidFill>
          <a:ln w="635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383280" y="1801368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00">
                <a:solidFill>
                  <a:srgbClr val="FFFFFF"/>
                </a:solidFill>
              </a:rPr>
              <a:t>Weighted sampler for balanced batches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55848" y="2441448"/>
            <a:ext cx="2523744" cy="530352"/>
          </a:xfrm>
          <a:prstGeom prst="rect">
            <a:avLst/>
          </a:prstGeom>
          <a:solidFill>
            <a:srgbClr val="E74C3C">
              <a:alpha val="12000"/>
            </a:srgbClr>
          </a:solidFill>
          <a:ln w="635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383280" y="2459736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00">
                <a:solidFill>
                  <a:srgbClr val="FFFFFF"/>
                </a:solidFill>
              </a:rPr>
              <a:t>Class weights in BCE loss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55848" y="3099816"/>
            <a:ext cx="2523744" cy="530352"/>
          </a:xfrm>
          <a:prstGeom prst="rect">
            <a:avLst/>
          </a:prstGeom>
          <a:solidFill>
            <a:srgbClr val="E74C3C">
              <a:alpha val="12000"/>
            </a:srgbClr>
          </a:solidFill>
          <a:ln w="635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383280" y="3118104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00">
                <a:solidFill>
                  <a:srgbClr val="FFFFFF"/>
                </a:solidFill>
              </a:rPr>
              <a:t>Batch size 16, 4 epochs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55848" y="3758184"/>
            <a:ext cx="2523744" cy="530352"/>
          </a:xfrm>
          <a:prstGeom prst="rect">
            <a:avLst/>
          </a:prstGeom>
          <a:solidFill>
            <a:srgbClr val="E74C3C">
              <a:alpha val="12000"/>
            </a:srgbClr>
          </a:solidFill>
          <a:ln w="635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383280" y="377647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00">
                <a:solidFill>
                  <a:srgbClr val="FFFFFF"/>
                </a:solidFill>
              </a:rPr>
              <a:t>Best weights selected by validation AUC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1097280"/>
            <a:ext cx="2743200" cy="3657600"/>
          </a:xfrm>
          <a:prstGeom prst="rect">
            <a:avLst/>
          </a:prstGeom>
          <a:solidFill>
            <a:srgbClr val="0D1B2A"/>
          </a:solidFill>
          <a:ln w="1905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217920" y="1097280"/>
            <a:ext cx="2743200" cy="502920"/>
          </a:xfrm>
          <a:prstGeom prst="rect">
            <a:avLst/>
          </a:prstGeom>
          <a:solidFill>
            <a:srgbClr val="2ECC71">
              <a:alpha val="8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217920" y="11155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400" b="1">
                <a:solidFill>
                  <a:srgbClr val="FFFFFF"/>
                </a:solidFill>
              </a:rPr>
              <a:t>Interpretability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17920" y="1435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000" i="1">
                <a:solidFill>
                  <a:srgbClr val="A0AEC0"/>
                </a:solidFill>
              </a:rPr>
              <a:t>Imbalance-ready setup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27648" y="1783080"/>
            <a:ext cx="2523744" cy="530352"/>
          </a:xfrm>
          <a:prstGeom prst="rect">
            <a:avLst/>
          </a:prstGeom>
          <a:solidFill>
            <a:srgbClr val="2ECC71">
              <a:alpha val="12000"/>
            </a:srgbClr>
          </a:solidFill>
          <a:ln w="635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355080" y="1801368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00">
                <a:solidFill>
                  <a:srgbClr val="FFFFFF"/>
                </a:solidFill>
              </a:rPr>
              <a:t>Weighted sampler for balanced batches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27648" y="2441448"/>
            <a:ext cx="2523744" cy="530352"/>
          </a:xfrm>
          <a:prstGeom prst="rect">
            <a:avLst/>
          </a:prstGeom>
          <a:solidFill>
            <a:srgbClr val="2ECC71">
              <a:alpha val="12000"/>
            </a:srgbClr>
          </a:solidFill>
          <a:ln w="635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355080" y="2459736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00">
                <a:solidFill>
                  <a:srgbClr val="FFFFFF"/>
                </a:solidFill>
              </a:rPr>
              <a:t>Final convolution layer retained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27648" y="3099816"/>
            <a:ext cx="2523744" cy="530352"/>
          </a:xfrm>
          <a:prstGeom prst="rect">
            <a:avLst/>
          </a:prstGeom>
          <a:solidFill>
            <a:srgbClr val="2ECC71">
              <a:alpha val="12000"/>
            </a:srgbClr>
          </a:solidFill>
          <a:ln w="635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355080" y="3118104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00">
                <a:solidFill>
                  <a:srgbClr val="FFFFFF"/>
                </a:solidFill>
              </a:rPr>
              <a:t>Heatmaps show focus regions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27648" y="3758184"/>
            <a:ext cx="2523744" cy="530352"/>
          </a:xfrm>
          <a:prstGeom prst="rect">
            <a:avLst/>
          </a:prstGeom>
          <a:solidFill>
            <a:srgbClr val="2ECC71">
              <a:alpha val="12000"/>
            </a:srgbClr>
          </a:solidFill>
          <a:ln w="635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355080" y="377647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00">
                <a:solidFill>
                  <a:srgbClr val="FFFFFF"/>
                </a:solidFill>
              </a:rPr>
              <a:t>Expert review before diagnostic use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</a:rPr>
              <a:t>Training Results</a:t>
            </a:r>
            <a:endParaRPr lang="en-US" sz="2800" dirty="0"/>
          </a:p>
        </p:txBody>
      </p:sp>
      <p:pic>
        <p:nvPicPr>
          <p:cNvPr id="4" name="Image 0" descr="/home/claude/ppt/images/graph10_trai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85953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160520"/>
            <a:ext cx="2743200" cy="749808"/>
          </a:xfrm>
          <a:prstGeom prst="rect">
            <a:avLst/>
          </a:prstGeom>
          <a:solidFill>
            <a:srgbClr val="378ADD">
              <a:alpha val="12000"/>
            </a:srgbClr>
          </a:solidFill>
          <a:ln w="12700">
            <a:solidFill>
              <a:srgbClr val="378AD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274320" y="4187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Custom CNN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44622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950">
                <a:solidFill>
                  <a:srgbClr val="64748B"/>
                </a:solidFill>
              </a:rPr>
              <a:t>Final validation accuracy: 96.7%; best validation AUC: 0.9918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18688" y="4160520"/>
            <a:ext cx="2743200" cy="749808"/>
          </a:xfrm>
          <a:prstGeom prst="rect">
            <a:avLst/>
          </a:prstGeom>
          <a:solidFill>
            <a:srgbClr val="E74C3C">
              <a:alpha val="12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218688" y="4187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100" b="1">
                <a:solidFill>
                  <a:srgbClr val="0A2342"/>
                </a:solidFill>
              </a:rPr>
              <a:t>Training Setup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18688" y="44622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950">
                <a:solidFill>
                  <a:srgbClr val="64748B"/>
                </a:solidFill>
              </a:rPr>
              <a:t>4 epochs, Adam 0.001, batch size 16, weighted BCE loss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63056" y="4160520"/>
            <a:ext cx="2743200" cy="749808"/>
          </a:xfrm>
          <a:prstGeom prst="rect">
            <a:avLst/>
          </a:prstGeom>
          <a:solidFill>
            <a:srgbClr val="2ECC71">
              <a:alpha val="12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163056" y="4187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100" b="1">
                <a:solidFill>
                  <a:srgbClr val="0A2342"/>
                </a:solidFill>
              </a:rPr>
              <a:t>Final Test Result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63056" y="44622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950">
                <a:solidFill>
                  <a:srgbClr val="64748B"/>
                </a:solidFill>
              </a:rPr>
              <a:t>93.3% accuracy, 94.7% recall, 0.9826 ROC AUC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822960"/>
            <a:ext cx="859536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2800" b="1">
                <a:solidFill>
                  <a:srgbClr val="FFFFFF"/>
                </a:solidFill>
              </a:rPr>
              <a:t>Confusion Matrix — Notebook CNN</a:t>
            </a:r>
            <a:endParaRPr lang="en-US" sz="2800" dirty="0"/>
          </a:p>
        </p:txBody>
      </p:sp>
      <p:pic>
        <p:nvPicPr>
          <p:cNvPr id="3" name="Image 0" descr="/home/claude/ppt/images/graph11_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859536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4160520"/>
            <a:ext cx="2743200" cy="749808"/>
          </a:xfrm>
          <a:prstGeom prst="rect">
            <a:avLst/>
          </a:prstGeom>
          <a:solidFill>
            <a:srgbClr val="378ADD">
              <a:alpha val="15000"/>
            </a:srgbClr>
          </a:solidFill>
          <a:ln w="12700">
            <a:solidFill>
              <a:srgbClr val="378ADD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" y="4187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100" b="1">
                <a:solidFill>
                  <a:srgbClr val="FFFFFF"/>
                </a:solidFill>
              </a:rPr>
              <a:t>Correct predictions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4453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000">
                <a:solidFill>
                  <a:srgbClr val="A0AEC0"/>
                </a:solidFill>
              </a:rPr>
              <a:t>TN: 69   TP: 71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18688" y="4160520"/>
            <a:ext cx="2743200" cy="749808"/>
          </a:xfrm>
          <a:prstGeom prst="rect">
            <a:avLst/>
          </a:prstGeom>
          <a:solidFill>
            <a:srgbClr val="E74C3C">
              <a:alpha val="1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218688" y="4187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100" b="1">
                <a:solidFill>
                  <a:srgbClr val="FFFFFF"/>
                </a:solidFill>
              </a:rPr>
              <a:t>False positives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18688" y="4453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000">
                <a:solidFill>
                  <a:srgbClr val="A0AEC0"/>
                </a:solidFill>
              </a:rPr>
              <a:t>Healthy predicted infected: 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63056" y="4160520"/>
            <a:ext cx="2743200" cy="749808"/>
          </a:xfrm>
          <a:prstGeom prst="rect">
            <a:avLst/>
          </a:prstGeom>
          <a:solidFill>
            <a:srgbClr val="2ECC71">
              <a:alpha val="15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163056" y="4187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100" b="1">
                <a:solidFill>
                  <a:srgbClr val="FFFFFF"/>
                </a:solidFill>
              </a:rPr>
              <a:t>False negatives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63056" y="4453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000">
                <a:solidFill>
                  <a:srgbClr val="A0AEC0"/>
                </a:solidFill>
              </a:rPr>
              <a:t>Infected predicted healthy: 4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822960"/>
            <a:ext cx="859536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2800" b="1">
                <a:solidFill>
                  <a:srgbClr val="0A2342"/>
                </a:solidFill>
              </a:rPr>
              <a:t>ROC &amp; Precision-Recall Curves</a:t>
            </a:r>
            <a:endParaRPr lang="en-US" sz="2800" dirty="0"/>
          </a:p>
        </p:txBody>
      </p:sp>
      <p:pic>
        <p:nvPicPr>
          <p:cNvPr id="4" name="Image 0" descr="/home/claude/ppt/images/graph12_roc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530352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0720" y="914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400" b="1">
                <a:solidFill>
                  <a:srgbClr val="0A2342"/>
                </a:solidFill>
              </a:rPr>
              <a:t>Notebook scores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760720" y="1371600"/>
            <a:ext cx="3017520" cy="804672"/>
          </a:xfrm>
          <a:prstGeom prst="rect">
            <a:avLst/>
          </a:prstGeom>
          <a:solidFill>
            <a:srgbClr val="378ADD">
              <a:alpha val="12000"/>
            </a:srgbClr>
          </a:solidFill>
          <a:ln w="12700">
            <a:solidFill>
              <a:srgbClr val="378ADD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760720" y="13990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Custom CNN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60720" y="16733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600" b="1">
                <a:solidFill>
                  <a:srgbClr val="378ADD"/>
                </a:solidFill>
              </a:rPr>
              <a:t>ROC AUC = 0.9826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60720" y="192024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900" i="1">
                <a:solidFill>
                  <a:srgbClr val="64748B"/>
                </a:solidFill>
              </a:rPr>
              <a:t>Average precision = 0.9856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60720" y="2331720"/>
            <a:ext cx="3017520" cy="804672"/>
          </a:xfrm>
          <a:prstGeom prst="rect">
            <a:avLst/>
          </a:prstGeom>
          <a:solidFill>
            <a:srgbClr val="E74C3C">
              <a:alpha val="12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760720" y="23591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200" b="1">
                <a:solidFill>
                  <a:srgbClr val="0A2342"/>
                </a:solidFill>
              </a:rPr>
              <a:t>Threshold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60720" y="26334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600" b="1">
                <a:solidFill>
                  <a:srgbClr val="E74C3C"/>
                </a:solidFill>
              </a:rPr>
              <a:t>0.50 cutoff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60720" y="288036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900" i="1">
                <a:solidFill>
                  <a:srgbClr val="64748B"/>
                </a:solidFill>
              </a:rPr>
              <a:t>Recall = 94.7%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60720" y="3291840"/>
            <a:ext cx="3017520" cy="804672"/>
          </a:xfrm>
          <a:prstGeom prst="rect">
            <a:avLst/>
          </a:prstGeom>
          <a:solidFill>
            <a:srgbClr val="2ECC71">
              <a:alpha val="12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760720" y="33192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200" b="1">
                <a:solidFill>
                  <a:srgbClr val="0A2342"/>
                </a:solidFill>
              </a:rPr>
              <a:t>Clinical view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60720" y="35935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600" b="1">
                <a:solidFill>
                  <a:srgbClr val="2ECC71"/>
                </a:solidFill>
              </a:rPr>
              <a:t>Lower threshold can reduce misses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760720" y="384048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900" i="1">
                <a:solidFill>
                  <a:srgbClr val="64748B"/>
                </a:solidFill>
              </a:rPr>
              <a:t>Manual review for uncertain cells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760720" y="4343400"/>
            <a:ext cx="301752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760720" y="43616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000" i="1">
                <a:solidFill>
                  <a:srgbClr val="9FEDD7"/>
                </a:solidFill>
              </a:rPr>
              <a:t>High AUC supports screening, but expert validation is still required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p/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822960"/>
            <a:ext cx="53035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2800" b="1">
                <a:solidFill>
                  <a:srgbClr val="FFFFFF"/>
                </a:solidFill>
              </a:rPr>
              <a:t>CNN Performance Summary</a:t>
            </a:r>
            <a:endParaRPr lang="en-US" sz="2800" dirty="0"/>
          </a:p>
        </p:txBody>
      </p:sp>
      <p:pic>
        <p:nvPicPr>
          <p:cNvPr id="3" name="Image 0" descr="/home/claude/ppt/images/graph13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8595360" cy="292608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886200"/>
          <a:ext cx="8595360" cy="1005840"/>
        </p:xfrm>
        <a:graphic>
          <a:graphicData uri="http://schemas.openxmlformats.org/drawingml/2006/table">
            <a:tbl>
              <a:tblPr/>
              <a:tblGrid>
                <a:gridCol w="1645920"/>
                <a:gridCol w="1234440"/>
                <a:gridCol w="1234440"/>
                <a:gridCol w="1234440"/>
                <a:gridCol w="1234440"/>
                <a:gridCol w="1234440"/>
              </a:tblGrid>
              <a:tr h="25146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6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6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6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6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6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670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93.3%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92.2%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94.7%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t>F1-score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93.4%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ROC AUC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0.9826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Avg precision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0.9856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t>Test images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Working images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1,000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Threshold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0.50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822960"/>
            <a:ext cx="859536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</a:rPr>
              <a:t>Grad-CAM — Explainable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300" i="1">
                <a:solidFill>
                  <a:srgbClr val="64748B"/>
                </a:solidFill>
              </a:rPr>
              <a:t>Gradient-weighted Class Activation Mapping — Notebook CNN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749040"/>
          </a:xfrm>
          <a:prstGeom prst="rect">
            <a:avLst/>
          </a:prstGeom>
          <a:solidFill>
            <a:srgbClr val="0A2342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DD7"/>
                </a:solidFill>
              </a:rPr>
              <a:t>What is Grad-CAM?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" y="1572768"/>
            <a:ext cx="91440" cy="91440"/>
          </a:xfrm>
          <a:prstGeom prst="ellipse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5361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Generates heatmaps showing WHICH region of the cell the model focused 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2048256"/>
            <a:ext cx="91440" cy="91440"/>
          </a:xfrm>
          <a:prstGeom prst="ellipse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2011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Hot colors (red/yellow) = high attention area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2523744"/>
            <a:ext cx="91440" cy="91440"/>
          </a:xfrm>
          <a:prstGeom prst="ellipse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4871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Cool colors (blue) = low attention area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" y="2999232"/>
            <a:ext cx="91440" cy="91440"/>
          </a:xfrm>
          <a:prstGeom prst="ellipse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296265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For parasitized cells, model highlights the dark parasite spots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3474720"/>
            <a:ext cx="91440" cy="91440"/>
          </a:xfrm>
          <a:prstGeom prst="ellipse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43814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Helps medical experts validate and trust predictions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" y="3950208"/>
            <a:ext cx="91440" cy="91440"/>
          </a:xfrm>
          <a:prstGeom prst="ellipse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39136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50">
                <a:solidFill>
                  <a:srgbClr val="FFFFFF"/>
                </a:solidFill>
              </a:rPr>
              <a:t>Useful for expert review before clinical use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1051560"/>
            <a:ext cx="4297680" cy="3749040"/>
          </a:xfrm>
          <a:prstGeom prst="rect">
            <a:avLst/>
          </a:prstGeom>
          <a:solidFill>
            <a:srgbClr val="0D1B2A"/>
          </a:solidFill>
          <a:ln w="1905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0" y="20116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3600">
                <a:solidFill>
                  <a:srgbClr val="000000"/>
                </a:solidFill>
              </a:rPr>
              <a:t/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572000" y="26517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400" b="1">
                <a:solidFill>
                  <a:srgbClr val="9FEDD7"/>
                </a:solidFill>
              </a:rPr>
              <a:t/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31089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100" i="1">
                <a:solidFill>
                  <a:srgbClr val="A0AEC0"/>
                </a:solidFill>
              </a:rPr>
              <a:t/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000" y="1191560"/>
            <a:ext cx="4017680" cy="3469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2800" b="1">
                <a:solidFill>
                  <a:srgbClr val="FFFFFF"/>
                </a:solidFill>
              </a:rPr>
              <a:t>Notebook Prediction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300" i="1">
                <a:solidFill>
                  <a:srgbClr val="A0AEC0"/>
                </a:solidFill>
              </a:rPr>
              <a:t>Run the trained CNN in notebook memory, then review probability, threshold decision, and Grad-CAM evidence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1828800"/>
          </a:xfrm>
          <a:prstGeom prst="rect">
            <a:avLst/>
          </a:prstGeom>
          <a:solidFill>
            <a:srgbClr val="026670">
              <a:alpha val="20000"/>
            </a:srgbClr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2618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FEDD7"/>
                </a:solidFill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100" b="1">
                <a:solidFill>
                  <a:srgbClr val="FFFFFF"/>
                </a:solidFill>
              </a:rPr>
              <a:t>Load Image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3042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900">
                <a:solidFill>
                  <a:srgbClr val="A0AEC0"/>
                </a:solidFill>
              </a:rPr>
              <a:t>Test-set RBC image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2057400"/>
            <a:ext cx="182880" cy="54864"/>
          </a:xfrm>
          <a:prstGeom prst="rect">
            <a:avLst/>
          </a:prstGeom>
          <a:solidFill>
            <a:srgbClr val="9FEDD7"/>
          </a:solidFill>
          <a:ln w="12700">
            <a:solidFill>
              <a:srgbClr val="9FEDD7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011680" y="1188720"/>
            <a:ext cx="1554480" cy="1828800"/>
          </a:xfrm>
          <a:prstGeom prst="rect">
            <a:avLst/>
          </a:prstGeom>
          <a:solidFill>
            <a:srgbClr val="026670">
              <a:alpha val="20000"/>
            </a:srgbClr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011680" y="12618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FEDD7"/>
                </a:solidFill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3042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900">
                <a:solidFill>
                  <a:srgbClr val="A0AEC0"/>
                </a:solidFill>
              </a:rPr>
              <a:t>Resize 64×64 → Normalize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66160" y="2057400"/>
            <a:ext cx="182880" cy="54864"/>
          </a:xfrm>
          <a:prstGeom prst="rect">
            <a:avLst/>
          </a:prstGeom>
          <a:solidFill>
            <a:srgbClr val="9FEDD7"/>
          </a:solidFill>
          <a:ln w="12700">
            <a:solidFill>
              <a:srgbClr val="9FEDD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749040" y="1188720"/>
            <a:ext cx="1554480" cy="1828800"/>
          </a:xfrm>
          <a:prstGeom prst="rect">
            <a:avLst/>
          </a:prstGeom>
          <a:solidFill>
            <a:srgbClr val="026670">
              <a:alpha val="20000"/>
            </a:srgbClr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749040" y="12618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4904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FEDD7"/>
                </a:solidFill>
              </a:rPr>
              <a:t>Step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100" b="1">
                <a:solidFill>
                  <a:srgbClr val="FFFFFF"/>
                </a:solidFill>
              </a:rPr>
              <a:t>CNN Predicts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23042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900">
                <a:solidFill>
                  <a:srgbClr val="A0AEC0"/>
                </a:solidFill>
              </a:rPr>
              <a:t>Single PyTorch CNN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2057400"/>
            <a:ext cx="182880" cy="54864"/>
          </a:xfrm>
          <a:prstGeom prst="rect">
            <a:avLst/>
          </a:prstGeom>
          <a:solidFill>
            <a:srgbClr val="9FEDD7"/>
          </a:solidFill>
          <a:ln w="12700">
            <a:solidFill>
              <a:srgbClr val="9FEDD7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486400" y="1188720"/>
            <a:ext cx="1554480" cy="1828800"/>
          </a:xfrm>
          <a:prstGeom prst="rect">
            <a:avLst/>
          </a:prstGeom>
          <a:solidFill>
            <a:srgbClr val="026670">
              <a:alpha val="20000"/>
            </a:srgbClr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0" y="12618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FEDD7"/>
                </a:solidFill>
              </a:rPr>
              <a:t>Step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Grad-CAM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23042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900">
                <a:solidFill>
                  <a:srgbClr val="A0AEC0"/>
                </a:solidFill>
              </a:rPr>
              <a:t>Heatmap reviewed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40880" y="2057400"/>
            <a:ext cx="182880" cy="54864"/>
          </a:xfrm>
          <a:prstGeom prst="rect">
            <a:avLst/>
          </a:prstGeom>
          <a:solidFill>
            <a:srgbClr val="9FEDD7"/>
          </a:solidFill>
          <a:ln w="12700">
            <a:solidFill>
              <a:srgbClr val="9FEDD7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223760" y="1188720"/>
            <a:ext cx="1554480" cy="1828800"/>
          </a:xfrm>
          <a:prstGeom prst="rect">
            <a:avLst/>
          </a:prstGeom>
          <a:solidFill>
            <a:srgbClr val="026670">
              <a:alpha val="20000"/>
            </a:srgbClr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223760" y="12618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22376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FEDD7"/>
                </a:solidFill>
              </a:rPr>
              <a:t>Step 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100" b="1">
                <a:solidFill>
                  <a:srgbClr val="FFFFFF"/>
                </a:solidFill>
              </a:rPr>
              <a:t>Final Label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23042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900">
                <a:solidFill>
                  <a:srgbClr val="A0AEC0"/>
                </a:solidFill>
              </a:rPr>
              <a:t>Infected / Healthy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291840"/>
            <a:ext cx="85953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5720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100" b="1">
                <a:solidFill>
                  <a:srgbClr val="9FEDD7"/>
                </a:solidFill>
              </a:rPr>
              <a:t>Notebook cell 45: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100">
                <a:solidFill>
                  <a:srgbClr val="93C5FD"/>
                </a:solidFill>
                <a:latin typeface="Consolas"/>
              </a:rPr>
              <a:t>test_probs, y_true, test_paths_ordered = predict_loader(model, test_loader)</a:t>
            </a:r>
            <a:endParaRPr lang="en-US" sz="1100" dirty="0"/>
          </a:p>
          <a:p>
            <a:r>
              <a:rPr sz="1100">
                <a:solidFill>
                  <a:srgbClr val="93C5FD"/>
                </a:solidFill>
                <a:latin typeface="Consolas"/>
              </a:rPr>
              <a:t>y_pred = (test_probs &gt;= 0.50).astype(int)</a:t>
            </a:r>
          </a:p>
        </p:txBody>
      </p:sp>
      <p:sp>
        <p:nvSpPr>
          <p:cNvPr id="36" name="Shape 3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DD7"/>
                </a:solidFill>
              </a:rPr>
              <a:t>Key Conclusions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1463040"/>
            <a:ext cx="54864" cy="2743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" y="142646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100">
                <a:solidFill>
                  <a:srgbClr val="FFFFFF"/>
                </a:solidFill>
              </a:rPr>
              <a:t>Custom CNN achieved 93.3% test accuracy in the notebook run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2029968"/>
            <a:ext cx="54864" cy="2743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" y="19933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100">
                <a:solidFill>
                  <a:srgbClr val="FFFFFF"/>
                </a:solidFill>
              </a:rPr>
              <a:t>ROC AUC of 0.9826 shows strong class separation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96896"/>
            <a:ext cx="54864" cy="2743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" y="2560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100">
                <a:solidFill>
                  <a:srgbClr val="FFFFFF"/>
                </a:solidFill>
              </a:rPr>
              <a:t>Grad-CAM helps verify that focus stays inside relevant cell regions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3163824"/>
            <a:ext cx="54864" cy="2743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" y="31272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100">
                <a:solidFill>
                  <a:srgbClr val="FFFFFF"/>
                </a:solidFill>
              </a:rPr>
              <a:t>Class weights and weighted sampling make the pipeline imbalance-ready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3730752"/>
            <a:ext cx="54864" cy="2743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1792" y="369417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100">
                <a:solidFill>
                  <a:srgbClr val="FFFFFF"/>
                </a:solidFill>
              </a:rPr>
              <a:t>Model is a classroom baseline and needs expert validation before clinical use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20624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0060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B5FD"/>
                </a:solidFill>
              </a:rPr>
              <a:t>Future Work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28032" y="1463040"/>
            <a:ext cx="54864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10912" y="142646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100">
                <a:solidFill>
                  <a:srgbClr val="FFFFFF"/>
                </a:solidFill>
              </a:rPr>
              <a:t>Run full-dataset training when runtime permits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28032" y="2029968"/>
            <a:ext cx="54864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10912" y="19933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100">
                <a:solidFill>
                  <a:srgbClr val="FFFFFF"/>
                </a:solidFill>
              </a:rPr>
              <a:t>Use patient-level holdout split for stronger validation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28032" y="2596896"/>
            <a:ext cx="54864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10912" y="2560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100">
                <a:solidFill>
                  <a:srgbClr val="FFFFFF"/>
                </a:solidFill>
              </a:rPr>
              <a:t>Add stain normalization across microscopes and labs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28032" y="3163824"/>
            <a:ext cx="54864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010912" y="31272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100">
                <a:solidFill>
                  <a:srgbClr val="FFFFFF"/>
                </a:solidFill>
              </a:rPr>
              <a:t>Calibrate probabilities and tune threshold for screening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28032" y="3730752"/>
            <a:ext cx="54864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010912" y="369417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100">
                <a:solidFill>
                  <a:srgbClr val="FFFFFF"/>
                </a:solidFill>
              </a:rPr>
              <a:t>Ask domain experts to review Grad-CAM overlays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371600" y="4572000"/>
            <a:ext cx="6400800" cy="347472"/>
          </a:xfrm>
          <a:prstGeom prst="rect">
            <a:avLst/>
          </a:prstGeom>
          <a:solidFill>
            <a:srgbClr val="026670">
              <a:alpha val="70000"/>
            </a:srgbClr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371600" y="4581144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000" i="1">
                <a:solidFill>
                  <a:srgbClr val="9FEDD7"/>
                </a:solidFill>
              </a:rPr>
              <a:t>"The model supports medical review; it does not replace diagnostic judgment."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FEDD7"/>
                </a:solidFill>
              </a:rPr>
              <a:t>Questions &amp; Answers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026670"/>
          </a:solidFill>
          <a:ln w="12700">
            <a:solidFill>
              <a:srgbClr val="02667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71600" y="2926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Dataset: NIH Malaria Cell Images — Kaggle (iarunava)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32735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100">
                <a:solidFill>
                  <a:srgbClr val="64748B"/>
                </a:solidFill>
              </a:rPr>
              <a:t>Model: PyTorch / torchvision — custom CNN baseline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362102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Explainability: Grad-CAM (Selvaraju et al., 2017)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96849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Course: UCS321 — EST Project | Biocon Ltd.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Team Name  |  College Name  |  Student Names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Malaria Cell Detection</dc:title>
  <cp:lastModifiedBy>Student</cp:lastModifiedBy>
  <cp:revision>1</cp:revision>
  <dcterms:modified xsi:type="dcterms:W3CDTF">2026-05-07T13:15:00Z</dcterms:modified>
  <dc:creator>Student</dc:creator>
  <dc:subject>Malaria RBC CNN project</dc:subject>
  <cp:keywords>malaria, red blood cells, CNN, Grad-CAM, PyTorch</cp:keywords>
  <cp:category>College Project</cp:category>
  <dc:description>College project presentation</dc:description>
  <dcterms:created xsi:type="dcterms:W3CDTF">2026-05-07T13:15:00Z</dcterms:created>
</cp:coreProperties>
</file>